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53f9ebc1-3fb9-569a-be92-63246007af57}">
          <p14:sldIdLst>
            <p14:sldId id="256"/>
          </p14:sldIdLst>
        </p14:section>
        <p14:section name="Status" id="{a97f9028-d452-6de3-da86-60fae2ee5f6b}">
          <p14:sldIdLst>
            <p14:sldId id="257"/>
          </p14:sldIdLst>
        </p14:section>
        <p14:section name="Budget" id="{ab7856f7-b35f-6915-a67c-6502a5c03e55}">
          <p14:sldIdLst>
            <p14:sldId id="258"/>
          </p14:sldIdLst>
        </p14:section>
        <p14:section name="Risks" id="{c987c2b5-f947-d972-9f81-1c826cce2bc0}">
          <p14:sldIdLst>
            <p14:sldId id="259"/>
          </p14:sldIdLst>
        </p14:section>
        <p14:section name="Decision" id="{db3bcc9b-7e8b-b019-abae-b858a36109aa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2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240"/>
                </a:solidFill>
                <a:latin typeface="+mn-lt"/>
              </a:rPr>
              <a:t>Assets by migration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Assets</c:v>
                </c:pt>
              </c:strCache>
            </c:strRef>
          </c:tx>
          <c:spPr>
            <a:solidFill>
              <a:srgbClr val="3D5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647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 migration</c:v>
                  </c:pt>
                  <c:pt idx="1">
                    <c:v>Migrated</c:v>
                  </c:pt>
                  <c:pt idx="2">
                    <c:v>Decommissioned</c:v>
                  </c:pt>
                  <c:pt idx="3">
                    <c:v>Not started</c:v>
                  </c:pt>
                  <c:pt idx="4">
                    <c:v>Discovery</c:v>
                  </c:pt>
                  <c:pt idx="5">
                    <c:v>Testing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13</c:v>
                </c:pt>
                <c:pt idx="2">
                  <c:v>11</c:v>
                </c:pt>
                <c:pt idx="3">
                  <c:v>8</c:v>
                </c:pt>
                <c:pt idx="4">
                  <c:v>7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A647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to complete</c:v>
                </c:pt>
              </c:strCache>
            </c:strRef>
          </c:tx>
          <c:spPr>
            <a:solidFill>
              <a:srgbClr val="3D5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647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Marketing Analytics</c:v>
                  </c:pt>
                  <c:pt idx="1">
                    <c:v>Finance</c:v>
                  </c:pt>
                  <c:pt idx="2">
                    <c:v>Actuarial</c:v>
                  </c:pt>
                  <c:pt idx="3">
                    <c:v>Claims</c:v>
                  </c:pt>
                  <c:pt idx="4">
                    <c:v>Risk &amp; Compliance</c:v>
                  </c:pt>
                  <c:pt idx="5">
                    <c:v>Underwriting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270200</c:v>
                </c:pt>
                <c:pt idx="1">
                  <c:v>141200</c:v>
                </c:pt>
                <c:pt idx="2">
                  <c:v>132900</c:v>
                </c:pt>
                <c:pt idx="3">
                  <c:v>111300</c:v>
                </c:pt>
                <c:pt idx="4">
                  <c:v>108250</c:v>
                </c:pt>
                <c:pt idx="5">
                  <c:v>76900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A647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of a legacy analytics decommissioning programme, built on a synthetic 60-asset inventory.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of 60 assets are already finished. Notably 11 were decommissioned rather than migrated, so retiring assets is established practice on this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for the steering committee is not what the costs are, but why a third of the budget sits with the lowest-stakes department.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unowned assets are the most urgent: they block validation of every migration they touch.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is a pause and a review, not a cancellation. Confirming usage with departments costs days; migrating a dormant asset costs tens of thousands.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 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A8B4C8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A8B4C8"/>
                </a:solidFill>
              </a:rPr>
              <a:t> 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 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B4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B4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SAS Decommissioning Programme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A8B4C8"/>
                </a:solidFill>
              </a:rPr>
              <a:t>Status review  |  Q4 2026</a:t>
            </a:r>
            <a:endParaRPr lang="en-US" sz="1800" dirty="0"/>
          </a:p>
        </p:txBody>
      </p:sp>
      <p:sp>
        <p:nvSpPr>
          <p:cNvPr id="4" name="cover-disclaimer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699"/>
                </a:solidFill>
              </a:rPr>
              <a:t>Self-directed project. Synthetic data; no real organisational data is used.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the programme stands</a:t>
            </a:r>
            <a:endParaRPr lang="en-US" sz="3200" dirty="0"/>
          </a:p>
        </p:txBody>
      </p:sp>
      <p:sp>
        <p:nvSpPr>
          <p:cNvPr id="3" name="stat-value-Assets in scope"/>
          <p:cNvSpPr txBox="1"/>
          <p:nvPr/>
        </p:nvSpPr>
        <p:spPr>
          <a:xfrm>
            <a:off x="640080" y="1371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240"/>
                </a:solidFill>
              </a:rPr>
              <a:t>60</a:t>
            </a:r>
            <a:endParaRPr lang="en-US" sz="4000" dirty="0"/>
          </a:p>
        </p:txBody>
      </p:sp>
      <p:sp>
        <p:nvSpPr>
          <p:cNvPr id="4" name="stat-label-Assets in scope"/>
          <p:cNvSpPr txBox="1"/>
          <p:nvPr/>
        </p:nvSpPr>
        <p:spPr>
          <a:xfrm>
            <a:off x="64008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Assets in scope</a:t>
            </a:r>
            <a:endParaRPr lang="en-US" sz="1200" dirty="0"/>
          </a:p>
        </p:txBody>
      </p:sp>
      <p:sp>
        <p:nvSpPr>
          <p:cNvPr id="5" name="stat-value-Complete"/>
          <p:cNvSpPr txBox="1"/>
          <p:nvPr/>
        </p:nvSpPr>
        <p:spPr>
          <a:xfrm>
            <a:off x="3566160" y="1371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240"/>
                </a:solidFill>
              </a:rPr>
              <a:t>40%</a:t>
            </a:r>
            <a:endParaRPr lang="en-US" sz="4000" dirty="0"/>
          </a:p>
        </p:txBody>
      </p:sp>
      <p:sp>
        <p:nvSpPr>
          <p:cNvPr id="6" name="stat-label-Complete"/>
          <p:cNvSpPr txBox="1"/>
          <p:nvPr/>
        </p:nvSpPr>
        <p:spPr>
          <a:xfrm>
            <a:off x="356616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Complete</a:t>
            </a:r>
            <a:endParaRPr lang="en-US" sz="1200" dirty="0"/>
          </a:p>
        </p:txBody>
      </p:sp>
      <p:sp>
        <p:nvSpPr>
          <p:cNvPr id="7" name="stat-value-Assets remaining"/>
          <p:cNvSpPr txBox="1"/>
          <p:nvPr/>
        </p:nvSpPr>
        <p:spPr>
          <a:xfrm>
            <a:off x="6492240" y="1371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240"/>
                </a:solidFill>
              </a:rPr>
              <a:t>36</a:t>
            </a:r>
            <a:endParaRPr lang="en-US" sz="4000" dirty="0"/>
          </a:p>
        </p:txBody>
      </p:sp>
      <p:sp>
        <p:nvSpPr>
          <p:cNvPr id="8" name="stat-label-Assets remaining"/>
          <p:cNvSpPr txBox="1"/>
          <p:nvPr/>
        </p:nvSpPr>
        <p:spPr>
          <a:xfrm>
            <a:off x="649224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Assets remaining</a:t>
            </a:r>
            <a:endParaRPr lang="en-US" sz="1200" dirty="0"/>
          </a:p>
        </p:txBody>
      </p:sp>
      <p:sp>
        <p:nvSpPr>
          <p:cNvPr id="9" name="stat-value-Person-days remaining"/>
          <p:cNvSpPr txBox="1"/>
          <p:nvPr/>
        </p:nvSpPr>
        <p:spPr>
          <a:xfrm>
            <a:off x="9418320" y="1371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240"/>
                </a:solidFill>
              </a:rPr>
              <a:t>895</a:t>
            </a:r>
            <a:endParaRPr lang="en-US" sz="4000" dirty="0"/>
          </a:p>
        </p:txBody>
      </p:sp>
      <p:sp>
        <p:nvSpPr>
          <p:cNvPr id="10" name="stat-label-Person-days remaining"/>
          <p:cNvSpPr txBox="1"/>
          <p:nvPr/>
        </p:nvSpPr>
        <p:spPr>
          <a:xfrm>
            <a:off x="941832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Person-days remaining</a:t>
            </a:r>
            <a:endParaRPr lang="en-US" sz="1200" dirty="0"/>
          </a:p>
        </p:txBody>
      </p:sp>
      <p:graphicFrame>
        <p:nvGraphicFramePr>
          <p:cNvPr id="11" name="chart-status" descr=""/>
          <p:cNvGraphicFramePr/>
          <p:nvPr/>
        </p:nvGraphicFramePr>
        <p:xfrm>
          <a:off x="640080" y="2834640"/>
          <a:ext cx="10881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B4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Cost to complete, by department</a:t>
            </a:r>
            <a:endParaRPr lang="en-US" sz="3200" dirty="0"/>
          </a:p>
        </p:txBody>
      </p:sp>
      <p:graphicFrame>
        <p:nvGraphicFramePr>
          <p:cNvPr id="3" name="chart-budget" descr=""/>
          <p:cNvGraphicFramePr/>
          <p:nvPr/>
        </p:nvGraphicFramePr>
        <p:xfrm>
          <a:off x="640080" y="137160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udget-note-bg"/>
          <p:cNvSpPr/>
          <p:nvPr/>
        </p:nvSpPr>
        <p:spPr>
          <a:xfrm>
            <a:off x="8503920" y="1371600"/>
            <a:ext cx="3017520" cy="4206240"/>
          </a:xfrm>
          <a:prstGeom prst="roundRect">
            <a:avLst>
              <a:gd name="adj" fmla="val 181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budget-total"/>
          <p:cNvSpPr txBox="1"/>
          <p:nvPr/>
        </p:nvSpPr>
        <p:spPr>
          <a:xfrm>
            <a:off x="877824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40"/>
                </a:solidFill>
              </a:rPr>
              <a:t>EUR 840,750</a:t>
            </a:r>
            <a:endParaRPr lang="en-US" sz="2600" dirty="0"/>
          </a:p>
        </p:txBody>
      </p:sp>
      <p:sp>
        <p:nvSpPr>
          <p:cNvPr id="6" name="budget-total-label"/>
          <p:cNvSpPr txBox="1"/>
          <p:nvPr/>
        </p:nvSpPr>
        <p:spPr>
          <a:xfrm>
            <a:off x="877824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total cost to complete</a:t>
            </a:r>
            <a:endParaRPr lang="en-US" sz="1200" dirty="0"/>
          </a:p>
        </p:txBody>
      </p:sp>
      <p:sp>
        <p:nvSpPr>
          <p:cNvPr id="7" name="budget-commentary"/>
          <p:cNvSpPr txBox="1"/>
          <p:nvPr/>
        </p:nvSpPr>
        <p:spPr>
          <a:xfrm>
            <a:off x="8778240" y="29260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Marketing Analytics holds 32% of the remaining budget despite being the lowest-criticality department in the estate.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Underwriting and Risk &amp; Compliance, where the business-critical work sits, hold the smallest shares.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B4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Top three risks</a:t>
            </a:r>
            <a:endParaRPr lang="en-US" sz="3200" dirty="0"/>
          </a:p>
        </p:txBody>
      </p:sp>
      <p:sp>
        <p:nvSpPr>
          <p:cNvPr id="3" name="card-bg-1"/>
          <p:cNvSpPr/>
          <p:nvPr/>
        </p:nvSpPr>
        <p:spPr>
          <a:xfrm>
            <a:off x="640080" y="1463040"/>
            <a:ext cx="3566160" cy="3200400"/>
          </a:xfrm>
          <a:prstGeom prst="roundRect">
            <a:avLst>
              <a:gd name="adj" fmla="val 171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card-head-1"/>
          <p:cNvSpPr txBox="1"/>
          <p:nvPr/>
        </p:nvSpPr>
        <p:spPr>
          <a:xfrm>
            <a:off x="914400" y="1719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240"/>
                </a:solidFill>
              </a:rPr>
              <a:t>11 assets unowned</a:t>
            </a:r>
            <a:endParaRPr lang="en-US" sz="1800" dirty="0"/>
          </a:p>
        </p:txBody>
      </p:sp>
      <p:sp>
        <p:nvSpPr>
          <p:cNvPr id="5" name="card-body-1"/>
          <p:cNvSpPr txBox="1"/>
          <p:nvPr/>
        </p:nvSpPr>
        <p:spPr>
          <a:xfrm>
            <a:off x="914400" y="21945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Eleven Critical or High criticality assets have no assigned owner.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Nobody can confirm what they do, and nobody will sign off the migrated version.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Owner: Discovery workstream</a:t>
            </a:r>
            <a:endParaRPr lang="en-US" sz="1400" dirty="0"/>
          </a:p>
        </p:txBody>
      </p:sp>
      <p:sp>
        <p:nvSpPr>
          <p:cNvPr id="6" name="card-bg-2"/>
          <p:cNvSpPr/>
          <p:nvPr/>
        </p:nvSpPr>
        <p:spPr>
          <a:xfrm>
            <a:off x="4389120" y="1463040"/>
            <a:ext cx="3566160" cy="3200400"/>
          </a:xfrm>
          <a:prstGeom prst="roundRect">
            <a:avLst>
              <a:gd name="adj" fmla="val 171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card-head-2"/>
          <p:cNvSpPr txBox="1"/>
          <p:nvPr/>
        </p:nvSpPr>
        <p:spPr>
          <a:xfrm>
            <a:off x="4663440" y="1719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240"/>
                </a:solidFill>
              </a:rPr>
              <a:t>Budget misallocation</a:t>
            </a:r>
            <a:endParaRPr lang="en-US" sz="1800" dirty="0"/>
          </a:p>
        </p:txBody>
      </p:sp>
      <p:sp>
        <p:nvSpPr>
          <p:cNvPr id="8" name="card-body-2"/>
          <p:cNvSpPr txBox="1"/>
          <p:nvPr/>
        </p:nvSpPr>
        <p:spPr>
          <a:xfrm>
            <a:off x="4663440" y="21945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Marketing Analytics holds EUR 270,200 of the EUR 840,750 remaining, at the lowest business criticality.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39% of that spend is on assets unused for two years.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Owner: Product Owner</a:t>
            </a:r>
            <a:endParaRPr lang="en-US" sz="1400" dirty="0"/>
          </a:p>
        </p:txBody>
      </p:sp>
      <p:sp>
        <p:nvSpPr>
          <p:cNvPr id="9" name="card-bg-3"/>
          <p:cNvSpPr/>
          <p:nvPr/>
        </p:nvSpPr>
        <p:spPr>
          <a:xfrm>
            <a:off x="8138160" y="1463040"/>
            <a:ext cx="3383280" cy="3200400"/>
          </a:xfrm>
          <a:prstGeom prst="roundRect">
            <a:avLst>
              <a:gd name="adj" fmla="val 171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card-head-3"/>
          <p:cNvSpPr txBox="1"/>
          <p:nvPr/>
        </p:nvSpPr>
        <p:spPr>
          <a:xfrm>
            <a:off x="8412480" y="1719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240"/>
                </a:solidFill>
              </a:rPr>
              <a:t>Compliance scope</a:t>
            </a:r>
            <a:endParaRPr lang="en-US" sz="1800" dirty="0"/>
          </a:p>
        </p:txBody>
      </p:sp>
      <p:sp>
        <p:nvSpPr>
          <p:cNvPr id="11" name="card-body-3"/>
          <p:cNvSpPr txBox="1"/>
          <p:nvPr/>
        </p:nvSpPr>
        <p:spPr>
          <a:xfrm>
            <a:off x="8412480" y="219456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19 unmigrated assets hold personal data; 12 fall within EU AI Act scope.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Each needs review before migration. Classification requires legal input.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Owner: Compliance workstream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B4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Decision needed</a:t>
            </a:r>
            <a:endParaRPr lang="en-US" sz="3200" dirty="0"/>
          </a:p>
        </p:txBody>
      </p:sp>
      <p:sp>
        <p:nvSpPr>
          <p:cNvPr id="3" name="decision-figure"/>
          <p:cNvSpPr txBox="1"/>
          <p:nvPr/>
        </p:nvSpPr>
        <p:spPr>
          <a:xfrm>
            <a:off x="640080" y="14630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2410C"/>
                </a:solidFill>
              </a:rPr>
              <a:t>EUR 322,700</a:t>
            </a:r>
            <a:endParaRPr lang="en-US" sz="6000" dirty="0"/>
          </a:p>
        </p:txBody>
      </p:sp>
      <p:sp>
        <p:nvSpPr>
          <p:cNvPr id="4" name="decision-subhead"/>
          <p:cNvSpPr txBox="1"/>
          <p:nvPr/>
        </p:nvSpPr>
        <p:spPr>
          <a:xfrm>
            <a:off x="640080" y="2697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240"/>
                </a:solidFill>
              </a:rPr>
              <a:t>is budgeted to migrate 15 assets that have not been run in over two years.</a:t>
            </a:r>
            <a:endParaRPr lang="en-US" sz="1800" dirty="0"/>
          </a:p>
        </p:txBody>
      </p:sp>
      <p:sp>
        <p:nvSpPr>
          <p:cNvPr id="5" name="decision-body"/>
          <p:cNvSpPr txBox="1"/>
          <p:nvPr/>
        </p:nvSpPr>
        <p:spPr>
          <a:xfrm>
            <a:off x="640080" y="356616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</a:rPr>
              <a:t>That is 38% of the entire remaining migration budget.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</a:rPr>
              <a:t>Eleven assets have already been decommissioned rather than migrated on this programme, so the precedent is established.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</a:rPr>
              <a:t>Recommendation: pause migration work on all fifteen pending usage confirmation with the owning departments.</a:t>
            </a:r>
            <a:endParaRPr lang="en-US" sz="1500" dirty="0"/>
          </a:p>
        </p:txBody>
      </p:sp>
      <p:sp>
        <p:nvSpPr>
          <p:cNvPr id="6" name="next-bg"/>
          <p:cNvSpPr/>
          <p:nvPr/>
        </p:nvSpPr>
        <p:spPr>
          <a:xfrm>
            <a:off x="7589520" y="1463040"/>
            <a:ext cx="3931920" cy="3749040"/>
          </a:xfrm>
          <a:prstGeom prst="roundRect">
            <a:avLst>
              <a:gd name="adj" fmla="val 146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next-head"/>
          <p:cNvSpPr txBox="1"/>
          <p:nvPr/>
        </p:nvSpPr>
        <p:spPr>
          <a:xfrm>
            <a:off x="786384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40"/>
                </a:solidFill>
              </a:rPr>
              <a:t>Next milestone</a:t>
            </a:r>
            <a:endParaRPr lang="en-US" sz="1800" dirty="0"/>
          </a:p>
        </p:txBody>
      </p:sp>
      <p:sp>
        <p:nvSpPr>
          <p:cNvPr id="8" name="next-list"/>
          <p:cNvSpPr txBox="1"/>
          <p:nvPr/>
        </p:nvSpPr>
        <p:spPr>
          <a:xfrm>
            <a:off x="7863840" y="237744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5A6478"/>
                </a:solidFill>
              </a:rPr>
              <a:t>Decommission candidate sign-off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478"/>
                </a:solidFill>
              </a:rPr>
              <a:t>Target: Q4 2026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478"/>
                </a:solidFill>
              </a:rPr>
              <a:t>Written confirmation from each owning department that the 15 assets are genuinely dormant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478"/>
                </a:solidFill>
              </a:rPr>
              <a:t>Blocked by: owner assignment for 11 Critical/High assets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B4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 Decommissioning">
  <a:themeElements>
    <a:clrScheme name="SAS Decommissioning">
      <a:dk1>
        <a:srgbClr val="1B2240"/>
      </a:dk1>
      <a:lt1>
        <a:srgbClr val="FFFFFF"/>
      </a:lt1>
      <a:dk2>
        <a:srgbClr val="5A6478"/>
      </a:dk2>
      <a:lt2>
        <a:srgbClr val="F2F4F8"/>
      </a:lt2>
      <a:accent1>
        <a:srgbClr val="1B2240"/>
      </a:accent1>
      <a:accent2>
        <a:srgbClr val="3D5A8C"/>
      </a:accent2>
      <a:accent3>
        <a:srgbClr val="C2410C"/>
      </a:accent3>
      <a:accent4>
        <a:srgbClr val="7A8699"/>
      </a:accent4>
      <a:accent5>
        <a:srgbClr val="A8B4C8"/>
      </a:accent5>
      <a:accent6>
        <a:srgbClr val="D6DCE6"/>
      </a:accent6>
      <a:hlink>
        <a:srgbClr val="3D5A8C"/>
      </a:hlink>
      <a:folHlink>
        <a:srgbClr val="7A8699"/>
      </a:folHlink>
    </a:clrScheme>
    <a:fontScheme name="SAS Decommission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 Decommissioning Programme - Status Review</dc:title>
  <dc:subject>PptxGenJS Presentation</dc:subject>
  <dc:creator>Zuher Kaddah</dc:creator>
  <cp:lastModifiedBy>Zuher Kaddah</cp:lastModifiedBy>
  <cp:revision>1</cp:revision>
  <dcterms:created xsi:type="dcterms:W3CDTF">2026-10-18T17:40:27Z</dcterms:created>
  <dcterms:modified xsi:type="dcterms:W3CDTF">2026-10-18T17:40:27Z</dcterms:modified>
</cp:coreProperties>
</file>